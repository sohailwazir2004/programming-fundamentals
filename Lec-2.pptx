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9" r:id="rId4"/>
    <p:sldId id="262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4" r:id="rId15"/>
    <p:sldId id="275" r:id="rId16"/>
    <p:sldId id="287" r:id="rId17"/>
    <p:sldId id="288" r:id="rId18"/>
    <p:sldId id="289" r:id="rId19"/>
    <p:sldId id="290" r:id="rId20"/>
    <p:sldId id="291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6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91" d="100"/>
          <a:sy n="91" d="100"/>
        </p:scale>
        <p:origin x="53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E9FB88-3317-44C8-9FCD-D9F08D802AC0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8EB2D7-CE55-4E9B-BCB3-DD74200D37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993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AFF388-6A7C-4E2D-B13D-777D9B15673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9113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95325"/>
            <a:ext cx="6096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7827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90793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5779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99035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0963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44946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8915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84082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2000" cy="3429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8067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9487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7BED7-387B-4B14-B4C3-27718A145F56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51B4C-8F70-4360-80DF-BA9853DE4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724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7BED7-387B-4B14-B4C3-27718A145F56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51B4C-8F70-4360-80DF-BA9853DE4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998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7BED7-387B-4B14-B4C3-27718A145F56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51B4C-8F70-4360-80DF-BA9853DE4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593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7BED7-387B-4B14-B4C3-27718A145F56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51B4C-8F70-4360-80DF-BA9853DE4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388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7BED7-387B-4B14-B4C3-27718A145F56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51B4C-8F70-4360-80DF-BA9853DE4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553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7BED7-387B-4B14-B4C3-27718A145F56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51B4C-8F70-4360-80DF-BA9853DE4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79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7BED7-387B-4B14-B4C3-27718A145F56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51B4C-8F70-4360-80DF-BA9853DE4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992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7BED7-387B-4B14-B4C3-27718A145F56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51B4C-8F70-4360-80DF-BA9853DE4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025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7BED7-387B-4B14-B4C3-27718A145F56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51B4C-8F70-4360-80DF-BA9853DE4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182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7BED7-387B-4B14-B4C3-27718A145F56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51B4C-8F70-4360-80DF-BA9853DE4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470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7BED7-387B-4B14-B4C3-27718A145F56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51B4C-8F70-4360-80DF-BA9853DE4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999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7BED7-387B-4B14-B4C3-27718A145F56}" type="datetimeFigureOut">
              <a:rPr lang="en-US" smtClean="0"/>
              <a:t>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951B4C-8F70-4360-80DF-BA9853DE42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607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Java_version_history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oracle.com/java/technologies/downloads/#jdk20-windows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Lecture-2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2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2130426"/>
            <a:ext cx="8153400" cy="1470025"/>
          </a:xfrm>
        </p:spPr>
        <p:txBody>
          <a:bodyPr>
            <a:normAutofit/>
          </a:bodyPr>
          <a:lstStyle/>
          <a:p>
            <a:r>
              <a:rPr lang="en-US" dirty="0"/>
              <a:t>Program Development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2286000" y="812801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3082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Programming: Plan First, Then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good programmer will plan first and write second</a:t>
            </a:r>
          </a:p>
          <a:p>
            <a:pPr lvl="1"/>
            <a:r>
              <a:rPr lang="en-US" dirty="0"/>
              <a:t>Breaking down a large programming task into several smaller tasks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684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Set of well-defined logical steps that must be taken to perform a task</a:t>
            </a:r>
          </a:p>
          <a:p>
            <a:r>
              <a:rPr lang="en-US" altLang="en-US" b="1" i="1" dirty="0"/>
              <a:t>For example</a:t>
            </a:r>
            <a:r>
              <a:rPr lang="en-US" altLang="en-US" i="1" dirty="0"/>
              <a:t>, suppose you have been asked to write a program to calculate and display the gross pay for an hourly paid employee. </a:t>
            </a:r>
          </a:p>
          <a:p>
            <a:pPr marL="0" indent="0">
              <a:buNone/>
            </a:pPr>
            <a:r>
              <a:rPr lang="en-US" altLang="en-US" sz="2400" b="1" dirty="0"/>
              <a:t>Here are the steps that you would take:</a:t>
            </a:r>
          </a:p>
          <a:p>
            <a:pPr marL="457200" lvl="1" indent="0">
              <a:buNone/>
            </a:pPr>
            <a:r>
              <a:rPr lang="en-US" altLang="en-US" sz="2000" dirty="0"/>
              <a:t>1. Get the number of hours worked.</a:t>
            </a:r>
          </a:p>
          <a:p>
            <a:pPr marL="457200" lvl="1" indent="0">
              <a:buNone/>
            </a:pPr>
            <a:r>
              <a:rPr lang="en-US" altLang="en-US" sz="2000" dirty="0"/>
              <a:t>2. Get the hourly pay rate.</a:t>
            </a:r>
          </a:p>
          <a:p>
            <a:pPr marL="457200" lvl="1" indent="0">
              <a:buNone/>
            </a:pPr>
            <a:r>
              <a:rPr lang="en-US" altLang="en-US" sz="2000" dirty="0"/>
              <a:t>3. Multiply the number of hours worked by the hourly pay rate.</a:t>
            </a:r>
          </a:p>
          <a:p>
            <a:pPr marL="457200" lvl="1" indent="0">
              <a:buNone/>
            </a:pPr>
            <a:r>
              <a:rPr lang="en-US" altLang="en-US" sz="2000" dirty="0"/>
              <a:t>4. Display the result of the calculation that was performed in Step 3.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5500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err="1"/>
              <a:t>Pseudocode</a:t>
            </a:r>
            <a:endParaRPr lang="he-IL" altLang="en-US" dirty="0"/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u="sng"/>
              <a:t>Pseudocode</a:t>
            </a:r>
            <a:r>
              <a:rPr lang="en-US" altLang="en-US"/>
              <a:t>: fake code</a:t>
            </a:r>
          </a:p>
          <a:p>
            <a:pPr lvl="1" eaLnBrk="1" hangingPunct="1"/>
            <a:r>
              <a:rPr lang="en-US" altLang="en-US"/>
              <a:t>Informal language that has no syntax rule </a:t>
            </a:r>
          </a:p>
          <a:p>
            <a:pPr lvl="1" eaLnBrk="1" hangingPunct="1"/>
            <a:r>
              <a:rPr lang="en-US" altLang="en-US"/>
              <a:t>Not meant to be compiled or executed</a:t>
            </a:r>
          </a:p>
          <a:p>
            <a:pPr lvl="1" eaLnBrk="1" hangingPunct="1"/>
            <a:r>
              <a:rPr lang="en-US" altLang="en-US"/>
              <a:t>Used to create model program</a:t>
            </a:r>
          </a:p>
          <a:p>
            <a:pPr lvl="2" eaLnBrk="1" hangingPunct="1"/>
            <a:r>
              <a:rPr lang="en-US" altLang="en-US"/>
              <a:t>No need to worry about syntax errors, can focus on program’s design</a:t>
            </a:r>
          </a:p>
          <a:p>
            <a:pPr lvl="2" eaLnBrk="1" hangingPunct="1"/>
            <a:r>
              <a:rPr lang="en-US" altLang="en-US"/>
              <a:t>Can be translated directly into actual code in any programming language</a:t>
            </a:r>
            <a:endParaRPr lang="he-IL" altLang="en-US"/>
          </a:p>
        </p:txBody>
      </p: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9450" y="4876801"/>
            <a:ext cx="5848350" cy="1285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93012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Flowcharts</a:t>
            </a:r>
            <a:endParaRPr lang="he-IL" altLang="en-US"/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u="sng" dirty="0"/>
              <a:t>Flowchart</a:t>
            </a:r>
            <a:r>
              <a:rPr lang="en-US" altLang="en-US" dirty="0"/>
              <a:t>: diagram that graphically depicts the steps in a program</a:t>
            </a:r>
          </a:p>
          <a:p>
            <a:pPr lvl="1" eaLnBrk="1" hangingPunct="1"/>
            <a:r>
              <a:rPr lang="en-US" altLang="en-US" dirty="0"/>
              <a:t>Ovals are terminal symbols</a:t>
            </a:r>
          </a:p>
          <a:p>
            <a:pPr lvl="1" eaLnBrk="1" hangingPunct="1"/>
            <a:r>
              <a:rPr lang="en-US" altLang="en-US" dirty="0"/>
              <a:t>Parallelograms are input and output symbols</a:t>
            </a:r>
          </a:p>
          <a:p>
            <a:pPr lvl="1" eaLnBrk="1" hangingPunct="1"/>
            <a:r>
              <a:rPr lang="en-US" altLang="en-US" dirty="0"/>
              <a:t>Rectangles are processing symbols</a:t>
            </a:r>
          </a:p>
          <a:p>
            <a:pPr lvl="1" eaLnBrk="1" hangingPunct="1"/>
            <a:r>
              <a:rPr lang="en-US" altLang="en-US" dirty="0"/>
              <a:t>Symbols are connected by arrows that represent the flow of the program</a:t>
            </a:r>
          </a:p>
        </p:txBody>
      </p:sp>
    </p:spTree>
    <p:extLst>
      <p:ext uri="{BB962C8B-B14F-4D97-AF65-F5344CB8AC3E}">
        <p14:creationId xmlns:p14="http://schemas.microsoft.com/office/powerpoint/2010/main" val="2288170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1981200" y="304800"/>
            <a:ext cx="3429000" cy="1676400"/>
          </a:xfrm>
        </p:spPr>
        <p:txBody>
          <a:bodyPr/>
          <a:lstStyle/>
          <a:p>
            <a:r>
              <a:rPr lang="en-US" sz="2400" dirty="0"/>
              <a:t>Flow Chart – Example</a:t>
            </a:r>
            <a:endParaRPr lang="da-DK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143000"/>
            <a:ext cx="335280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736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188" y="1095375"/>
            <a:ext cx="9191625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191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0" y="1447800"/>
            <a:ext cx="8458200" cy="5105400"/>
          </a:xfrm>
        </p:spPr>
        <p:txBody>
          <a:bodyPr>
            <a:normAutofit/>
          </a:bodyPr>
          <a:lstStyle/>
          <a:p>
            <a:r>
              <a:rPr lang="en-US" b="1" i="1" dirty="0"/>
              <a:t>Java</a:t>
            </a:r>
            <a:r>
              <a:rPr lang="en-US" dirty="0"/>
              <a:t> is a powerful and versatile programming language for developing software running on mobile devices, desktop computers, and servers</a:t>
            </a:r>
          </a:p>
          <a:p>
            <a:r>
              <a:rPr lang="en-US" dirty="0"/>
              <a:t>Developed by James Gosling in 1995</a:t>
            </a:r>
          </a:p>
          <a:p>
            <a:r>
              <a:rPr lang="en-US" dirty="0"/>
              <a:t>Popular because of write a program once and run it anywhere</a:t>
            </a:r>
          </a:p>
          <a:p>
            <a:r>
              <a:rPr lang="en-US" dirty="0"/>
              <a:t>Java is a </a:t>
            </a:r>
            <a:r>
              <a:rPr lang="en-US" b="1" dirty="0"/>
              <a:t>programming language</a:t>
            </a:r>
            <a:r>
              <a:rPr lang="en-US" dirty="0"/>
              <a:t> and a </a:t>
            </a:r>
            <a:r>
              <a:rPr lang="en-US" b="1" dirty="0"/>
              <a:t>platform</a:t>
            </a:r>
          </a:p>
          <a:p>
            <a:r>
              <a:rPr lang="en-US" b="1" dirty="0"/>
              <a:t>Platform</a:t>
            </a:r>
            <a:r>
              <a:rPr lang="en-US" dirty="0"/>
              <a:t>: Any hardware or software environment in which a program runs, is known as a platform. Since Java has a runtime environment (JRE) and API, it is called a platform.</a:t>
            </a:r>
          </a:p>
        </p:txBody>
      </p:sp>
    </p:spTree>
    <p:extLst>
      <p:ext uri="{BB962C8B-B14F-4D97-AF65-F5344CB8AC3E}">
        <p14:creationId xmlns:p14="http://schemas.microsoft.com/office/powerpoint/2010/main" val="4272172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Types of Java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Four types of applications that can be created using Java programming</a:t>
            </a:r>
          </a:p>
          <a:p>
            <a:pPr lvl="1"/>
            <a:r>
              <a:rPr lang="en-US" dirty="0"/>
              <a:t>Standalone Application</a:t>
            </a:r>
          </a:p>
          <a:p>
            <a:pPr lvl="1"/>
            <a:r>
              <a:rPr lang="en-US" dirty="0"/>
              <a:t>Web Application</a:t>
            </a:r>
          </a:p>
          <a:p>
            <a:pPr lvl="1"/>
            <a:r>
              <a:rPr lang="en-US" dirty="0"/>
              <a:t>Enterprise Application</a:t>
            </a:r>
          </a:p>
          <a:p>
            <a:pPr lvl="1"/>
            <a:r>
              <a:rPr lang="en-US" dirty="0"/>
              <a:t>Mobile Application</a:t>
            </a:r>
          </a:p>
        </p:txBody>
      </p:sp>
    </p:spTree>
    <p:extLst>
      <p:ext uri="{BB962C8B-B14F-4D97-AF65-F5344CB8AC3E}">
        <p14:creationId xmlns:p14="http://schemas.microsoft.com/office/powerpoint/2010/main" val="28383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solidFill>
                  <a:srgbClr val="000000"/>
                </a:solidFill>
              </a:rPr>
              <a:t>JDK Editions</a:t>
            </a:r>
            <a:br>
              <a:rPr lang="en-US" altLang="en-US" dirty="0">
                <a:solidFill>
                  <a:srgbClr val="000000"/>
                </a:solidFill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750"/>
              </a:spcBef>
              <a:buClr>
                <a:srgbClr val="000000"/>
              </a:buClr>
              <a:buSzPct val="75000"/>
              <a:defRPr/>
            </a:pPr>
            <a:r>
              <a:rPr lang="en-US" altLang="en-US" sz="3000" dirty="0">
                <a:cs typeface="Times New Roman" panose="02020603050405020304" pitchFamily="18" charset="0"/>
              </a:rPr>
              <a:t>Java Standard Edition (Java SE)</a:t>
            </a:r>
          </a:p>
          <a:p>
            <a:pPr>
              <a:spcBef>
                <a:spcPts val="750"/>
              </a:spcBef>
              <a:buClr>
                <a:srgbClr val="000000"/>
              </a:buClr>
              <a:buSzPct val="75000"/>
              <a:defRPr/>
            </a:pPr>
            <a:r>
              <a:rPr lang="en-US" altLang="en-US" sz="3000" dirty="0">
                <a:cs typeface="Times New Roman" panose="02020603050405020304" pitchFamily="18" charset="0"/>
              </a:rPr>
              <a:t>Java Enterprise Edition (Java EE)</a:t>
            </a:r>
          </a:p>
          <a:p>
            <a:pPr>
              <a:spcBef>
                <a:spcPts val="750"/>
              </a:spcBef>
              <a:buClr>
                <a:srgbClr val="000000"/>
              </a:buClr>
              <a:buSzPct val="75000"/>
              <a:defRPr/>
            </a:pPr>
            <a:r>
              <a:rPr lang="en-US" altLang="en-US" sz="3000" dirty="0">
                <a:cs typeface="Times New Roman" panose="02020603050405020304" pitchFamily="18" charset="0"/>
              </a:rPr>
              <a:t>Java Micro Edition (Java ME)</a:t>
            </a:r>
          </a:p>
        </p:txBody>
      </p:sp>
    </p:spTree>
    <p:extLst>
      <p:ext uri="{BB962C8B-B14F-4D97-AF65-F5344CB8AC3E}">
        <p14:creationId xmlns:p14="http://schemas.microsoft.com/office/powerpoint/2010/main" val="16202471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5" name="Text Box 2"/>
          <p:cNvSpPr txBox="1">
            <a:spLocks noChangeArrowheads="1"/>
          </p:cNvSpPr>
          <p:nvPr/>
        </p:nvSpPr>
        <p:spPr bwMode="auto">
          <a:xfrm>
            <a:off x="1905000" y="228600"/>
            <a:ext cx="83058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 anchor="ctr"/>
          <a:lstStyle>
            <a:lvl1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4400" dirty="0">
                <a:solidFill>
                  <a:srgbClr val="000000"/>
                </a:solidFill>
                <a:latin typeface="+mj-lt"/>
              </a:rPr>
              <a:t>JDK Versions</a:t>
            </a:r>
          </a:p>
        </p:txBody>
      </p:sp>
      <p:sp>
        <p:nvSpPr>
          <p:cNvPr id="74756" name="Text Box 3"/>
          <p:cNvSpPr txBox="1">
            <a:spLocks noChangeArrowheads="1"/>
          </p:cNvSpPr>
          <p:nvPr/>
        </p:nvSpPr>
        <p:spPr bwMode="auto">
          <a:xfrm>
            <a:off x="1905000" y="1143000"/>
            <a:ext cx="830580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/>
          <a:lstStyle>
            <a:lvl1pPr marL="341313" indent="-341313"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>
              <a:lnSpc>
                <a:spcPct val="90000"/>
              </a:lnSpc>
              <a:spcBef>
                <a:spcPts val="750"/>
              </a:spcBef>
              <a:buSzPct val="75000"/>
            </a:pPr>
            <a:endParaRPr lang="en-US" altLang="en-US" sz="3000" dirty="0">
              <a:solidFill>
                <a:srgbClr val="000000"/>
              </a:solidFill>
              <a:latin typeface="+mj-lt"/>
            </a:endParaRPr>
          </a:p>
          <a:p>
            <a:pPr>
              <a:lnSpc>
                <a:spcPct val="90000"/>
              </a:lnSpc>
              <a:spcBef>
                <a:spcPts val="750"/>
              </a:spcBef>
              <a:buSzPct val="75000"/>
            </a:pPr>
            <a:endParaRPr lang="en-US" altLang="en-US" sz="3000" dirty="0">
              <a:solidFill>
                <a:srgbClr val="000000"/>
              </a:solidFill>
              <a:latin typeface="+mj-lt"/>
            </a:endParaRPr>
          </a:p>
          <a:p>
            <a:pPr>
              <a:lnSpc>
                <a:spcPct val="90000"/>
              </a:lnSpc>
              <a:spcBef>
                <a:spcPts val="750"/>
              </a:spcBef>
              <a:buSzPct val="75000"/>
            </a:pPr>
            <a:endParaRPr lang="en-US" altLang="en-US" sz="3000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52600" y="1600201"/>
            <a:ext cx="8686800" cy="4525963"/>
          </a:xfrm>
        </p:spPr>
        <p:txBody>
          <a:bodyPr/>
          <a:lstStyle/>
          <a:p>
            <a:r>
              <a:rPr lang="en-US" dirty="0"/>
              <a:t>History of JDK version</a:t>
            </a:r>
          </a:p>
          <a:p>
            <a:pPr lvl="1"/>
            <a:r>
              <a:rPr lang="en-US" dirty="0">
                <a:hlinkClick r:id="rId3"/>
              </a:rPr>
              <a:t>https://en.wikipedia.org/wiki/Java_version_history</a:t>
            </a:r>
            <a:r>
              <a:rPr lang="en-US" dirty="0"/>
              <a:t> </a:t>
            </a:r>
          </a:p>
          <a:p>
            <a:r>
              <a:rPr lang="en-US" b="1" dirty="0"/>
              <a:t>Latest is Java </a:t>
            </a:r>
            <a:r>
              <a:rPr lang="en-US" b="1"/>
              <a:t>SE 21[</a:t>
            </a:r>
            <a:r>
              <a:rPr lang="en-US" b="1" dirty="0"/>
              <a:t>Java </a:t>
            </a:r>
            <a:r>
              <a:rPr lang="en-US" b="1"/>
              <a:t>SE 21]</a:t>
            </a:r>
            <a:endParaRPr lang="en-US" b="1" dirty="0"/>
          </a:p>
          <a:p>
            <a:r>
              <a:rPr lang="en-US" dirty="0"/>
              <a:t>Download from:</a:t>
            </a:r>
          </a:p>
          <a:p>
            <a:pPr lvl="1"/>
            <a:r>
              <a:rPr lang="en-US" dirty="0">
                <a:hlinkClick r:id="rId4"/>
              </a:rPr>
              <a:t>https://www.oracle.com/java/technologies/downloads/#jdk20-windows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3785741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4953000"/>
          </a:xfrm>
        </p:spPr>
        <p:txBody>
          <a:bodyPr>
            <a:normAutofit/>
          </a:bodyPr>
          <a:lstStyle/>
          <a:p>
            <a:r>
              <a:rPr lang="en-US" dirty="0"/>
              <a:t>To check if Java is installed (open command prompt and type following command)</a:t>
            </a:r>
          </a:p>
          <a:p>
            <a:pPr marL="0" indent="0" algn="ctr">
              <a:buNone/>
            </a:pPr>
            <a:r>
              <a:rPr lang="en-US" b="1" dirty="0">
                <a:latin typeface="Courier" pitchFamily="49" charset="0"/>
              </a:rPr>
              <a:t>java –version</a:t>
            </a:r>
          </a:p>
          <a:p>
            <a:r>
              <a:rPr lang="en-US" dirty="0">
                <a:latin typeface="+mj-lt"/>
              </a:rPr>
              <a:t>Setting Java Path</a:t>
            </a:r>
          </a:p>
          <a:p>
            <a:pPr lvl="1"/>
            <a:r>
              <a:rPr lang="en-US" dirty="0">
                <a:latin typeface="+mj-lt"/>
              </a:rPr>
              <a:t>Temporary Path</a:t>
            </a:r>
          </a:p>
          <a:p>
            <a:pPr lvl="2"/>
            <a:r>
              <a:rPr lang="en-US" dirty="0"/>
              <a:t>Open the command prompt</a:t>
            </a:r>
          </a:p>
          <a:p>
            <a:pPr lvl="2"/>
            <a:r>
              <a:rPr lang="en-US" dirty="0"/>
              <a:t>Copy the path of the JDK/bin directory</a:t>
            </a:r>
          </a:p>
          <a:p>
            <a:pPr lvl="2"/>
            <a:r>
              <a:rPr lang="en-US" dirty="0"/>
              <a:t>Write in command prompt: </a:t>
            </a:r>
            <a:r>
              <a:rPr lang="en-US" b="1" dirty="0"/>
              <a:t>set path=</a:t>
            </a:r>
            <a:r>
              <a:rPr lang="en-US" b="1" dirty="0" err="1"/>
              <a:t>copied_path</a:t>
            </a:r>
            <a:endParaRPr lang="en-US" b="1" dirty="0"/>
          </a:p>
          <a:p>
            <a:pPr lvl="1"/>
            <a:r>
              <a:rPr lang="en-US" dirty="0"/>
              <a:t>Permanent Path using Environment Variables Settings</a:t>
            </a:r>
          </a:p>
          <a:p>
            <a:pPr lvl="2"/>
            <a:endParaRPr lang="en-US" dirty="0">
              <a:latin typeface="+mj-lt"/>
            </a:endParaRPr>
          </a:p>
          <a:p>
            <a:pPr lvl="2"/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5493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solidFill>
                  <a:srgbClr val="000000"/>
                </a:solidFill>
              </a:rPr>
              <a:t>Popular Java IDEs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NetBeans</a:t>
            </a:r>
            <a:endParaRPr lang="en-US" dirty="0"/>
          </a:p>
          <a:p>
            <a:r>
              <a:rPr lang="en-US" dirty="0"/>
              <a:t>Eclipse</a:t>
            </a:r>
          </a:p>
          <a:p>
            <a:r>
              <a:rPr lang="en-US" dirty="0"/>
              <a:t>IntelliJ</a:t>
            </a:r>
          </a:p>
        </p:txBody>
      </p:sp>
    </p:spTree>
    <p:extLst>
      <p:ext uri="{BB962C8B-B14F-4D97-AF65-F5344CB8AC3E}">
        <p14:creationId xmlns:p14="http://schemas.microsoft.com/office/powerpoint/2010/main" val="1822694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JDK, JRE, and JVM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49530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Java Virtual Machine (JVM)</a:t>
            </a:r>
          </a:p>
          <a:p>
            <a:pPr lvl="1"/>
            <a:r>
              <a:rPr lang="en-US" dirty="0"/>
              <a:t>Provides a platform-independent way of executing Java source code</a:t>
            </a:r>
          </a:p>
          <a:p>
            <a:pPr lvl="1"/>
            <a:r>
              <a:rPr lang="en-US" dirty="0"/>
              <a:t>JVM comes with JIT(Just-in-Time) compiler that converts Java source code into low-level machine language</a:t>
            </a:r>
          </a:p>
          <a:p>
            <a:r>
              <a:rPr lang="en-US" dirty="0"/>
              <a:t>Java Runtime Environment</a:t>
            </a:r>
          </a:p>
          <a:p>
            <a:pPr lvl="1"/>
            <a:r>
              <a:rPr lang="en-US" dirty="0"/>
              <a:t>Set of software tools which are used for developing Java applications</a:t>
            </a:r>
          </a:p>
          <a:p>
            <a:pPr lvl="1"/>
            <a:r>
              <a:rPr lang="en-US" dirty="0"/>
              <a:t>Contains JVM</a:t>
            </a:r>
          </a:p>
          <a:p>
            <a:pPr lvl="1"/>
            <a:r>
              <a:rPr lang="en-US" dirty="0"/>
              <a:t>JRE = JVM + rt.jar (</a:t>
            </a:r>
            <a:r>
              <a:rPr lang="en-US" dirty="0" err="1"/>
              <a:t>lang</a:t>
            </a:r>
            <a:r>
              <a:rPr lang="en-US" dirty="0"/>
              <a:t>, </a:t>
            </a:r>
            <a:r>
              <a:rPr lang="en-US" dirty="0" err="1"/>
              <a:t>util</a:t>
            </a:r>
            <a:r>
              <a:rPr lang="en-US" dirty="0"/>
              <a:t>, </a:t>
            </a:r>
            <a:r>
              <a:rPr lang="en-US" dirty="0" err="1"/>
              <a:t>awt</a:t>
            </a:r>
            <a:r>
              <a:rPr lang="en-US" dirty="0"/>
              <a:t>, swing, math packages)</a:t>
            </a:r>
          </a:p>
          <a:p>
            <a:r>
              <a:rPr lang="en-US" dirty="0"/>
              <a:t>Java Development Tool kit (JDK)</a:t>
            </a:r>
          </a:p>
          <a:p>
            <a:pPr lvl="1"/>
            <a:r>
              <a:rPr lang="en-US" dirty="0"/>
              <a:t>Software development environment which is used to develop Java applications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0221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JDK, JRE, and JVM</a:t>
            </a:r>
          </a:p>
        </p:txBody>
      </p:sp>
      <p:pic>
        <p:nvPicPr>
          <p:cNvPr id="3074" name="Picture 2" descr="JD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600200"/>
            <a:ext cx="8339056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9294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Program Phases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0" y="1600201"/>
            <a:ext cx="8839200" cy="4525963"/>
          </a:xfrm>
        </p:spPr>
        <p:txBody>
          <a:bodyPr>
            <a:normAutofit/>
          </a:bodyPr>
          <a:lstStyle/>
          <a:p>
            <a:r>
              <a:rPr lang="en-US" dirty="0"/>
              <a:t>Phase 1: Creating a Program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Phase 2: Compiling a Java Program into </a:t>
            </a:r>
            <a:r>
              <a:rPr lang="en-US" dirty="0" err="1"/>
              <a:t>Bytecodes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r>
              <a:rPr lang="en-US" dirty="0"/>
              <a:t>Bytecodes are re-executed by the JVM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2010104"/>
            <a:ext cx="6965156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2917" y="3649034"/>
            <a:ext cx="6819014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70998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Program Phases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Phase 3: Loading a Program into Memory</a:t>
            </a:r>
          </a:p>
          <a:p>
            <a:pPr lvl="1"/>
            <a:r>
              <a:rPr lang="en-US" dirty="0"/>
              <a:t>JVM class loader takes the .class file (along with associated class files provided by Java) and loads in memory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2105" y="3733801"/>
            <a:ext cx="5715000" cy="2316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62908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Program Phases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Phase 4: </a:t>
            </a:r>
            <a:r>
              <a:rPr lang="en-US" dirty="0" err="1"/>
              <a:t>Bytecode</a:t>
            </a:r>
            <a:r>
              <a:rPr lang="en-US" dirty="0"/>
              <a:t> Verification</a:t>
            </a:r>
          </a:p>
          <a:p>
            <a:pPr lvl="1"/>
            <a:r>
              <a:rPr lang="en-US" dirty="0"/>
              <a:t>Java enforces strong security to make sure that Java programs arriving over the network do not damage your files or your system (as computer viruses and worms might).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3733800"/>
            <a:ext cx="661870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06822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792162"/>
          </a:xfrm>
        </p:spPr>
        <p:txBody>
          <a:bodyPr/>
          <a:lstStyle/>
          <a:p>
            <a:r>
              <a:rPr lang="en-US" dirty="0"/>
              <a:t>Java Program Phases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0" y="1143962"/>
            <a:ext cx="8839200" cy="4525963"/>
          </a:xfrm>
        </p:spPr>
        <p:txBody>
          <a:bodyPr>
            <a:normAutofit/>
          </a:bodyPr>
          <a:lstStyle/>
          <a:p>
            <a:r>
              <a:rPr lang="en-US" dirty="0"/>
              <a:t>Phase 5: Execution</a:t>
            </a:r>
          </a:p>
          <a:p>
            <a:pPr lvl="1"/>
            <a:r>
              <a:rPr lang="en-US" dirty="0"/>
              <a:t>Interpreter </a:t>
            </a:r>
          </a:p>
          <a:p>
            <a:pPr lvl="2"/>
            <a:r>
              <a:rPr lang="en-US" dirty="0"/>
              <a:t>JVM execute </a:t>
            </a:r>
            <a:r>
              <a:rPr lang="en-US" dirty="0" err="1"/>
              <a:t>bytecode</a:t>
            </a:r>
            <a:r>
              <a:rPr lang="en-US" dirty="0"/>
              <a:t> using interpreter (one </a:t>
            </a:r>
            <a:r>
              <a:rPr lang="en-US" dirty="0" err="1"/>
              <a:t>bytecode</a:t>
            </a:r>
            <a:r>
              <a:rPr lang="en-US" dirty="0"/>
              <a:t> at a time) which slows execution</a:t>
            </a:r>
          </a:p>
          <a:p>
            <a:pPr lvl="1"/>
            <a:r>
              <a:rPr lang="en-US" dirty="0"/>
              <a:t>Just In Time(JIT) Compiler</a:t>
            </a:r>
          </a:p>
          <a:p>
            <a:pPr lvl="3"/>
            <a:r>
              <a:rPr lang="en-US" dirty="0" smtClean="0"/>
              <a:t>Translates </a:t>
            </a:r>
            <a:r>
              <a:rPr lang="en-US" dirty="0"/>
              <a:t>the bytecodes into the underlying computer’s machine language</a:t>
            </a:r>
          </a:p>
          <a:p>
            <a:pPr lvl="1"/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9829" y="3678620"/>
            <a:ext cx="5657850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54669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Java Bytecode">
            <a:extLst>
              <a:ext uri="{FF2B5EF4-FFF2-40B4-BE49-F238E27FC236}">
                <a16:creationId xmlns:a16="http://schemas.microsoft.com/office/drawing/2014/main" id="{9F8ED6ED-A684-6016-E4B8-12F621DAF3E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548300" y="643467"/>
            <a:ext cx="7095398" cy="5571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9009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solidFill>
                  <a:srgbClr val="000000"/>
                </a:solidFill>
              </a:rPr>
              <a:t>Interpreting/Compiling Source 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program written in a high-level language is called a  </a:t>
            </a:r>
            <a:r>
              <a:rPr lang="en-US" i="1" dirty="0"/>
              <a:t>source program </a:t>
            </a:r>
            <a:r>
              <a:rPr lang="en-US" dirty="0"/>
              <a:t>or  </a:t>
            </a:r>
            <a:r>
              <a:rPr lang="en-US" i="1" dirty="0"/>
              <a:t>source code</a:t>
            </a:r>
          </a:p>
          <a:p>
            <a:r>
              <a:rPr lang="en-US" i="1" dirty="0"/>
              <a:t>A source program must be translated into machine code for execution</a:t>
            </a:r>
          </a:p>
        </p:txBody>
      </p:sp>
    </p:spTree>
    <p:extLst>
      <p:ext uri="{BB962C8B-B14F-4D97-AF65-F5344CB8AC3E}">
        <p14:creationId xmlns:p14="http://schemas.microsoft.com/office/powerpoint/2010/main" val="4280659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Text Box 2"/>
          <p:cNvSpPr txBox="1">
            <a:spLocks noChangeArrowheads="1"/>
          </p:cNvSpPr>
          <p:nvPr/>
        </p:nvSpPr>
        <p:spPr bwMode="auto">
          <a:xfrm>
            <a:off x="2209800" y="228600"/>
            <a:ext cx="77724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 anchor="ctr"/>
          <a:lstStyle>
            <a:lvl1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4400">
                <a:solidFill>
                  <a:srgbClr val="000000"/>
                </a:solidFill>
                <a:latin typeface="+mj-lt"/>
              </a:rPr>
              <a:t>Compiling Source Code</a:t>
            </a:r>
          </a:p>
        </p:txBody>
      </p:sp>
      <p:sp>
        <p:nvSpPr>
          <p:cNvPr id="39940" name="Text Box 3"/>
          <p:cNvSpPr txBox="1">
            <a:spLocks noChangeArrowheads="1"/>
          </p:cNvSpPr>
          <p:nvPr/>
        </p:nvSpPr>
        <p:spPr bwMode="auto">
          <a:xfrm>
            <a:off x="1752600" y="1447800"/>
            <a:ext cx="8686800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/>
          <a:lstStyle>
            <a:lvl1pPr>
              <a:buClr>
                <a:srgbClr val="000000"/>
              </a:buClr>
              <a:buSzPct val="100000"/>
              <a:buFont typeface="Times New Roman" pitchFamily="16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buClr>
                <a:srgbClr val="000000"/>
              </a:buClr>
              <a:buSzPct val="100000"/>
              <a:buFont typeface="Times New Roman" pitchFamily="16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buClr>
                <a:srgbClr val="000000"/>
              </a:buClr>
              <a:buSzPct val="100000"/>
              <a:buFont typeface="Times New Roman" pitchFamily="16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buClr>
                <a:srgbClr val="000000"/>
              </a:buClr>
              <a:buSzPct val="100000"/>
              <a:buFont typeface="Times New Roman" pitchFamily="16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buClr>
                <a:srgbClr val="000000"/>
              </a:buClr>
              <a:buSzPct val="100000"/>
              <a:buFont typeface="Times New Roman" pitchFamily="16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>
              <a:spcBef>
                <a:spcPts val="800"/>
              </a:spcBef>
              <a:buClrTx/>
              <a:buSzPct val="75000"/>
            </a:pPr>
            <a:r>
              <a:rPr lang="en-US" altLang="en-US" sz="3200" dirty="0">
                <a:solidFill>
                  <a:srgbClr val="000000"/>
                </a:solidFill>
                <a:latin typeface="+mj-lt"/>
              </a:rPr>
              <a:t>A compiler translates the entire source code into a machine-code file, and the machine-code file is then executed</a:t>
            </a:r>
          </a:p>
        </p:txBody>
      </p:sp>
      <p:sp>
        <p:nvSpPr>
          <p:cNvPr id="39941" name="Rectangle 4"/>
          <p:cNvSpPr>
            <a:spLocks noChangeArrowheads="1"/>
          </p:cNvSpPr>
          <p:nvPr/>
        </p:nvSpPr>
        <p:spPr bwMode="auto">
          <a:xfrm>
            <a:off x="1524000" y="3028950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>
              <a:latin typeface="+mj-lt"/>
            </a:endParaRPr>
          </a:p>
        </p:txBody>
      </p:sp>
      <p:sp>
        <p:nvSpPr>
          <p:cNvPr id="39942" name="Rectangle 5"/>
          <p:cNvSpPr>
            <a:spLocks noChangeArrowheads="1"/>
          </p:cNvSpPr>
          <p:nvPr/>
        </p:nvSpPr>
        <p:spPr bwMode="auto">
          <a:xfrm>
            <a:off x="1524000" y="2871789"/>
            <a:ext cx="9144000" cy="1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>
              <a:latin typeface="+mj-lt"/>
            </a:endParaRPr>
          </a:p>
        </p:txBody>
      </p:sp>
      <p:sp>
        <p:nvSpPr>
          <p:cNvPr id="39943" name="Rectangle 6"/>
          <p:cNvSpPr>
            <a:spLocks noChangeArrowheads="1"/>
          </p:cNvSpPr>
          <p:nvPr/>
        </p:nvSpPr>
        <p:spPr bwMode="auto">
          <a:xfrm>
            <a:off x="1524000" y="2871789"/>
            <a:ext cx="9144000" cy="1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>
              <a:latin typeface="+mj-lt"/>
            </a:endParaRPr>
          </a:p>
        </p:txBody>
      </p:sp>
      <p:pic>
        <p:nvPicPr>
          <p:cNvPr id="39944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9725" y="3668713"/>
            <a:ext cx="8972550" cy="158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6655935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Text Box 2"/>
          <p:cNvSpPr txBox="1">
            <a:spLocks noChangeArrowheads="1"/>
          </p:cNvSpPr>
          <p:nvPr/>
        </p:nvSpPr>
        <p:spPr bwMode="auto">
          <a:xfrm>
            <a:off x="2209800" y="228600"/>
            <a:ext cx="77724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 anchor="ctr"/>
          <a:lstStyle>
            <a:lvl1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4400" dirty="0">
                <a:solidFill>
                  <a:srgbClr val="000000"/>
                </a:solidFill>
                <a:latin typeface="+mj-lt"/>
              </a:rPr>
              <a:t>Interpreting Source Code</a:t>
            </a:r>
          </a:p>
        </p:txBody>
      </p:sp>
      <p:sp>
        <p:nvSpPr>
          <p:cNvPr id="37892" name="Text Box 3"/>
          <p:cNvSpPr txBox="1">
            <a:spLocks noChangeArrowheads="1"/>
          </p:cNvSpPr>
          <p:nvPr/>
        </p:nvSpPr>
        <p:spPr bwMode="auto">
          <a:xfrm>
            <a:off x="1752600" y="1066800"/>
            <a:ext cx="8686800" cy="281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/>
          <a:lstStyle>
            <a:lvl1pPr>
              <a:buClr>
                <a:srgbClr val="000000"/>
              </a:buClr>
              <a:buSzPct val="100000"/>
              <a:buFont typeface="Times New Roman" pitchFamily="16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buClr>
                <a:srgbClr val="000000"/>
              </a:buClr>
              <a:buSzPct val="100000"/>
              <a:buFont typeface="Times New Roman" pitchFamily="16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buClr>
                <a:srgbClr val="000000"/>
              </a:buClr>
              <a:buSzPct val="100000"/>
              <a:buFont typeface="Times New Roman" pitchFamily="16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buClr>
                <a:srgbClr val="000000"/>
              </a:buClr>
              <a:buSzPct val="100000"/>
              <a:buFont typeface="Times New Roman" pitchFamily="16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buClr>
                <a:srgbClr val="000000"/>
              </a:buClr>
              <a:buSzPct val="100000"/>
              <a:buFont typeface="Times New Roman" pitchFamily="16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>
              <a:spcBef>
                <a:spcPts val="800"/>
              </a:spcBef>
              <a:buClrTx/>
              <a:buSzPct val="75000"/>
            </a:pPr>
            <a:r>
              <a:rPr lang="en-US" altLang="en-US" sz="3200" dirty="0">
                <a:solidFill>
                  <a:srgbClr val="000000"/>
                </a:solidFill>
                <a:latin typeface="+mj-lt"/>
              </a:rPr>
              <a:t>An interpreter reads one statement from the source code, translates it to the machine code or virtual machine code, and then executes it right away</a:t>
            </a:r>
          </a:p>
        </p:txBody>
      </p:sp>
      <p:sp>
        <p:nvSpPr>
          <p:cNvPr id="37893" name="Rectangle 4"/>
          <p:cNvSpPr>
            <a:spLocks noChangeArrowheads="1"/>
          </p:cNvSpPr>
          <p:nvPr/>
        </p:nvSpPr>
        <p:spPr bwMode="auto">
          <a:xfrm>
            <a:off x="1524000" y="3028950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>
              <a:latin typeface="+mj-lt"/>
            </a:endParaRPr>
          </a:p>
        </p:txBody>
      </p:sp>
      <p:sp>
        <p:nvSpPr>
          <p:cNvPr id="37894" name="Rectangle 5"/>
          <p:cNvSpPr>
            <a:spLocks noChangeArrowheads="1"/>
          </p:cNvSpPr>
          <p:nvPr/>
        </p:nvSpPr>
        <p:spPr bwMode="auto">
          <a:xfrm>
            <a:off x="1524000" y="2871789"/>
            <a:ext cx="9144000" cy="1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>
              <a:latin typeface="+mj-lt"/>
            </a:endParaRPr>
          </a:p>
        </p:txBody>
      </p:sp>
      <p:pic>
        <p:nvPicPr>
          <p:cNvPr id="37895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4114801"/>
            <a:ext cx="7867650" cy="2295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0485042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3" name="Rectangle 2"/>
          <p:cNvSpPr>
            <a:spLocks noChangeArrowheads="1"/>
          </p:cNvSpPr>
          <p:nvPr/>
        </p:nvSpPr>
        <p:spPr bwMode="auto">
          <a:xfrm>
            <a:off x="4724400" y="1981200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/>
          </a:p>
        </p:txBody>
      </p:sp>
      <p:sp>
        <p:nvSpPr>
          <p:cNvPr id="87044" name="Rectangle 3"/>
          <p:cNvSpPr>
            <a:spLocks noChangeArrowheads="1"/>
          </p:cNvSpPr>
          <p:nvPr/>
        </p:nvSpPr>
        <p:spPr bwMode="auto">
          <a:xfrm>
            <a:off x="4724400" y="1295400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/>
          </a:p>
        </p:txBody>
      </p:sp>
      <p:sp>
        <p:nvSpPr>
          <p:cNvPr id="87045" name="Rectangle 4"/>
          <p:cNvSpPr>
            <a:spLocks noChangeArrowheads="1"/>
          </p:cNvSpPr>
          <p:nvPr/>
        </p:nvSpPr>
        <p:spPr bwMode="auto">
          <a:xfrm>
            <a:off x="4181475" y="2790825"/>
            <a:ext cx="9144000" cy="1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en-US"/>
          </a:p>
        </p:txBody>
      </p:sp>
      <p:pic>
        <p:nvPicPr>
          <p:cNvPr id="87046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1031875"/>
            <a:ext cx="7772400" cy="5487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87047" name="Text Box 6"/>
          <p:cNvSpPr txBox="1">
            <a:spLocks noChangeArrowheads="1"/>
          </p:cNvSpPr>
          <p:nvPr/>
        </p:nvSpPr>
        <p:spPr bwMode="auto">
          <a:xfrm>
            <a:off x="5410200" y="152400"/>
            <a:ext cx="5105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160" tIns="46080" rIns="92160" bIns="46080" anchor="ctr"/>
          <a:lstStyle>
            <a:lvl1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1pPr>
            <a:lvl2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2pPr>
            <a:lvl3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3pPr>
            <a:lvl4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4pPr>
            <a:lvl5pPr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pitchFamily="16" charset="0"/>
                <a:ea typeface="Droid Sans" charset="0"/>
                <a:cs typeface="Droid Sans" charset="0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en-US" sz="3000" dirty="0">
                <a:solidFill>
                  <a:srgbClr val="000000"/>
                </a:solidFill>
                <a:latin typeface="+mj-lt"/>
              </a:rPr>
              <a:t>Creating, Compiling, and Running Programs</a:t>
            </a:r>
          </a:p>
        </p:txBody>
      </p:sp>
      <p:pic>
        <p:nvPicPr>
          <p:cNvPr id="87048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1" y="73026"/>
            <a:ext cx="3960813" cy="1363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7972269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Program Errors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0" y="2226468"/>
            <a:ext cx="7886700" cy="3504118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 smtClean="0"/>
              <a:t>Syntax Error </a:t>
            </a:r>
          </a:p>
          <a:p>
            <a:pPr marL="0" indent="0">
              <a:buNone/>
            </a:pPr>
            <a:r>
              <a:rPr lang="en-US" dirty="0"/>
              <a:t>These are mistakes in the code structure, such as using incorrect syntax or forgetting to close a bracket. Syntax errors are usually caught by the compiler or interpreter, so they are easy to fix. </a:t>
            </a:r>
            <a:endParaRPr lang="en-US" dirty="0" smtClean="0"/>
          </a:p>
          <a:p>
            <a:r>
              <a:rPr lang="en-US" b="1" dirty="0" smtClean="0"/>
              <a:t>Logical Error</a:t>
            </a:r>
          </a:p>
          <a:p>
            <a:pPr marL="0" indent="0">
              <a:buNone/>
            </a:pPr>
            <a:r>
              <a:rPr lang="en-US" dirty="0"/>
              <a:t>Logic errors are mistakes in the logic of the code, which can result in the program behaving unexpectedly or failing to produce the desired output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For example, average = marks * 5;</a:t>
            </a:r>
          </a:p>
          <a:p>
            <a:pPr marL="0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929520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Program Errors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Run time error</a:t>
            </a:r>
          </a:p>
          <a:p>
            <a:pPr marL="0" indent="0">
              <a:buNone/>
            </a:pPr>
            <a:r>
              <a:rPr lang="en-US" dirty="0"/>
              <a:t>Runtime errors are mistakes that occur while the program is running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For example, anything divided by zero.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6749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0" y="1600201"/>
            <a:ext cx="8610600" cy="4525963"/>
          </a:xfrm>
        </p:spPr>
        <p:txBody>
          <a:bodyPr/>
          <a:lstStyle/>
          <a:p>
            <a:r>
              <a:rPr lang="en-US" dirty="0"/>
              <a:t>Common Error 1: Missing Braces</a:t>
            </a:r>
          </a:p>
          <a:p>
            <a:r>
              <a:rPr lang="en-US" dirty="0"/>
              <a:t>Common Error 2: Missing Semicolons</a:t>
            </a:r>
          </a:p>
          <a:p>
            <a:r>
              <a:rPr lang="en-US" dirty="0"/>
              <a:t>Common Error 3: Missing Quotation Marks</a:t>
            </a:r>
          </a:p>
          <a:p>
            <a:r>
              <a:rPr lang="en-US" dirty="0"/>
              <a:t>Common Error 4: Misspelling Names(e.g. Main)</a:t>
            </a:r>
          </a:p>
        </p:txBody>
      </p:sp>
    </p:spTree>
    <p:extLst>
      <p:ext uri="{BB962C8B-B14F-4D97-AF65-F5344CB8AC3E}">
        <p14:creationId xmlns:p14="http://schemas.microsoft.com/office/powerpoint/2010/main" val="489081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>
                <a:solidFill>
                  <a:srgbClr val="000000"/>
                </a:solidFill>
              </a:rPr>
              <a:t>A Simple Java Program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1981200" y="5029200"/>
          <a:ext cx="8229600" cy="1034852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2820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To compile:</a:t>
                      </a:r>
                      <a:endParaRPr lang="en-US" sz="2800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0705" marR="90705" marT="45353" marB="45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 err="1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javac</a:t>
                      </a: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 Welcome.java</a:t>
                      </a:r>
                    </a:p>
                  </a:txBody>
                  <a:tcPr marL="90705" marR="90705" marT="45353" marB="45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820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To execute:</a:t>
                      </a:r>
                      <a:endParaRPr lang="en-US" sz="2800" dirty="0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0705" marR="90705" marT="45353" marB="45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verdana"/>
                        </a:rPr>
                        <a:t>java Welcome</a:t>
                      </a:r>
                    </a:p>
                  </a:txBody>
                  <a:tcPr marL="90705" marR="90705" marT="45353" marB="453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981200" y="4219547"/>
            <a:ext cx="81534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rgbClr val="000000"/>
                </a:solidFill>
                <a:latin typeface="Verdana" pitchFamily="34" charset="0"/>
                <a:cs typeface="Arial" pitchFamily="34" charset="0"/>
              </a:rPr>
              <a:t>Save this file as Welcome.java</a:t>
            </a:r>
            <a:endParaRPr lang="en-US" sz="48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2824" y="1676400"/>
            <a:ext cx="7585482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514" y="3671889"/>
            <a:ext cx="7800975" cy="485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95946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444</TotalTime>
  <Words>900</Words>
  <Application>Microsoft Office PowerPoint</Application>
  <PresentationFormat>Widescreen</PresentationFormat>
  <Paragraphs>124</Paragraphs>
  <Slides>29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Arial</vt:lpstr>
      <vt:lpstr>Calibri</vt:lpstr>
      <vt:lpstr>Calibri Light</vt:lpstr>
      <vt:lpstr>Courier</vt:lpstr>
      <vt:lpstr>Droid Sans</vt:lpstr>
      <vt:lpstr>Times New Roman</vt:lpstr>
      <vt:lpstr>Verdana</vt:lpstr>
      <vt:lpstr>Verdana</vt:lpstr>
      <vt:lpstr>Office Theme</vt:lpstr>
      <vt:lpstr>Lecture-2</vt:lpstr>
      <vt:lpstr>Program Development</vt:lpstr>
      <vt:lpstr>Programming: Plan First, Then Code</vt:lpstr>
      <vt:lpstr>Algorithm</vt:lpstr>
      <vt:lpstr>Pseudocode</vt:lpstr>
      <vt:lpstr>Flowcharts</vt:lpstr>
      <vt:lpstr>Flow Chart – Example</vt:lpstr>
      <vt:lpstr>PowerPoint Presentation</vt:lpstr>
      <vt:lpstr>About Java</vt:lpstr>
      <vt:lpstr>Types of Java Applications</vt:lpstr>
      <vt:lpstr>JDK Editions </vt:lpstr>
      <vt:lpstr>PowerPoint Presentation</vt:lpstr>
      <vt:lpstr>Installing Java</vt:lpstr>
      <vt:lpstr>Popular Java IDEs</vt:lpstr>
      <vt:lpstr>JDK, JRE, and JVM</vt:lpstr>
      <vt:lpstr>JDK, JRE, and JVM</vt:lpstr>
      <vt:lpstr>Java Program Phases</vt:lpstr>
      <vt:lpstr>Java Program Phases</vt:lpstr>
      <vt:lpstr>Java Program Phases</vt:lpstr>
      <vt:lpstr>Java Program Phases</vt:lpstr>
      <vt:lpstr>PowerPoint Presentation</vt:lpstr>
      <vt:lpstr>Interpreting/Compiling Source Code</vt:lpstr>
      <vt:lpstr>PowerPoint Presentation</vt:lpstr>
      <vt:lpstr>PowerPoint Presentation</vt:lpstr>
      <vt:lpstr>PowerPoint Presentation</vt:lpstr>
      <vt:lpstr>Types of Program Errors</vt:lpstr>
      <vt:lpstr>Types of Program Errors</vt:lpstr>
      <vt:lpstr>Common errors</vt:lpstr>
      <vt:lpstr>A Simple Java Program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Lecture-2</dc:title>
  <dc:creator>Windows User</dc:creator>
  <cp:lastModifiedBy>Windows User</cp:lastModifiedBy>
  <cp:revision>8</cp:revision>
  <dcterms:created xsi:type="dcterms:W3CDTF">2025-02-13T06:09:45Z</dcterms:created>
  <dcterms:modified xsi:type="dcterms:W3CDTF">2025-02-14T09:00:34Z</dcterms:modified>
</cp:coreProperties>
</file>